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T Sans Narrow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bold.fntdata"/><Relationship Id="rId14" Type="http://schemas.openxmlformats.org/officeDocument/2006/relationships/font" Target="fonts/PTSansNarrow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88a7179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88a7179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88a7179b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88a7179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88a7179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88a7179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88a7179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88a7179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88a7179b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88a7179b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88a7179b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88a7179b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0c3e55ee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0c3e55ee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3847/0004-6256/151/2/22" TargetMode="External"/><Relationship Id="rId4" Type="http://schemas.openxmlformats.org/officeDocument/2006/relationships/hyperlink" Target="https://doi.org/10.48550/arxiv.2401.17977" TargetMode="External"/><Relationship Id="rId5" Type="http://schemas.openxmlformats.org/officeDocument/2006/relationships/hyperlink" Target="https://doi.org/10.3847/1538-4357/ac2307" TargetMode="External"/><Relationship Id="rId6" Type="http://schemas.openxmlformats.org/officeDocument/2006/relationships/hyperlink" Target="http://github.com/aromanro/SolarSystem/blob/master/README.md" TargetMode="External"/><Relationship Id="rId7" Type="http://schemas.openxmlformats.org/officeDocument/2006/relationships/hyperlink" Target="https://doi.org/10.1103/physrev.159.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4380"/>
              <a:t>Influence of Hypothetical Planet 9 on Dwarf Planet Pluto</a:t>
            </a:r>
            <a:endParaRPr sz="438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Baron L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E</a:t>
            </a:r>
            <a:r>
              <a:rPr lang="en" sz="1400"/>
              <a:t>arly 2016–Konstantin Batygin and Mike Brown suggested the existence of a “Planet 9”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Supported by irregular movements of objects in the Kuiper Belt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This research aims to determine how a 9th planet would </a:t>
            </a:r>
            <a:r>
              <a:rPr lang="en" sz="1400"/>
              <a:t>affect</a:t>
            </a:r>
            <a:r>
              <a:rPr lang="en" sz="1400"/>
              <a:t> other objects in the Solar System.</a:t>
            </a:r>
            <a:endParaRPr sz="1400"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865" y="1795088"/>
            <a:ext cx="3616271" cy="20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2758800" y="3789325"/>
            <a:ext cx="362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Times New Roman"/>
                <a:ea typeface="Times New Roman"/>
                <a:cs typeface="Times New Roman"/>
                <a:sym typeface="Times New Roman"/>
              </a:rPr>
              <a:t>Fig 1: Hypothesized Orbit of Planet 9 Credit: R. Hurt (IPAC)/Caltech.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Used Newton's law of universal gravitation and Newton’s second law of motion: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Velocity Verlet was used in a Github Repository t</a:t>
            </a:r>
            <a:r>
              <a:rPr lang="en" sz="1400"/>
              <a:t>o simulate the Solar System with a new planet: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7260" r="4196" t="0"/>
          <a:stretch/>
        </p:blipFill>
        <p:spPr>
          <a:xfrm>
            <a:off x="3753925" y="1676050"/>
            <a:ext cx="1871400" cy="10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975" y="3526663"/>
            <a:ext cx="27527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8613" y="3211217"/>
            <a:ext cx="2515637" cy="12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(continued)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25"/>
            <a:ext cx="85206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collected the data through a simulation–our control group was with 21 objects (the Sun, 8 planets, and some major moons).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chose to focus on Pluto for this study because it is far from the Sun, and has a small mass. We printed its position and velocity at each timestep.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tested the data with Planet 9 being 20 times as far from the Sun as Neptune with a mass of: 20, 50, 100 and 200 times that of Earth.</a:t>
            </a:r>
            <a:endParaRPr sz="1400"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136" y="2230927"/>
            <a:ext cx="2191725" cy="16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266325"/>
            <a:ext cx="8520600" cy="3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used code in order to process the data and figure out the relationships between the mass of Planet 9, and: the orbital period of Pluto, the eccentricity of Pluto, and the Semimajor Axis of Pluto.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All the relationships were extremely close to being linear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Given the Orbital Period curve, we can fit the data with linear regression (LMSE):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 sz="1400"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875" y="2055575"/>
            <a:ext cx="2298975" cy="172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9800" y="2060325"/>
            <a:ext cx="2298975" cy="17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150" y="2055575"/>
            <a:ext cx="2298975" cy="172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8113" y="4308300"/>
            <a:ext cx="2222494" cy="2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researched the effects of a hypothetical Planet 9 on the objects of the Solar System.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used a simulation to collect data for our study and processed it to find Pluto's orbital period, eccentricity, and semimajor axis with 5 separate masses of Planet 9.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Our findings were that the mass of Planet Nine had a directly proportional relationship to the eccentricity, orbital period, and the Semi-Major axis of Pluto.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This research can help us redefine what we know about the solar system if the existence of a 9th planet is further considered or confirmed in the future.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Further study can also use a similar approach to identify the mass and distance of Planet 9, given the real-time ground truth orbital information of other planets in the Kuiper belt.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T Sans Narrow"/>
                <a:ea typeface="PT Sans Narrow"/>
                <a:cs typeface="PT Sans Narrow"/>
                <a:sym typeface="PT Sans Narrow"/>
              </a:rPr>
              <a:t>Here is a list of some things that could be done to further this research：</a:t>
            </a:r>
            <a:endParaRPr sz="1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T Sans Narrow"/>
              <a:buChar char="●"/>
            </a:pPr>
            <a:r>
              <a:rPr lang="en" sz="1400">
                <a:latin typeface="PT Sans Narrow"/>
                <a:ea typeface="PT Sans Narrow"/>
                <a:cs typeface="PT Sans Narrow"/>
                <a:sym typeface="PT Sans Narrow"/>
              </a:rPr>
              <a:t>A more precise algorithm, such as Verlet Integration, can be used to calculate the movements of the Solar System objects.</a:t>
            </a:r>
            <a:endParaRPr sz="1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T Sans Narrow"/>
              <a:buChar char="●"/>
            </a:pPr>
            <a:r>
              <a:rPr lang="en" sz="1400">
                <a:latin typeface="PT Sans Narrow"/>
                <a:ea typeface="PT Sans Narrow"/>
                <a:cs typeface="PT Sans Narrow"/>
                <a:sym typeface="PT Sans Narrow"/>
              </a:rPr>
              <a:t>Add more objects to a simulation of the Solar System, such as the rest of the Kuiper Belt</a:t>
            </a:r>
            <a:endParaRPr sz="1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T Sans Narrow"/>
              <a:buChar char="●"/>
            </a:pPr>
            <a:r>
              <a:rPr lang="en" sz="1400">
                <a:latin typeface="PT Sans Narrow"/>
                <a:ea typeface="PT Sans Narrow"/>
                <a:cs typeface="PT Sans Narrow"/>
                <a:sym typeface="PT Sans Narrow"/>
              </a:rPr>
              <a:t>More accurate initial parameters should be added to the study, such as the z-axis.</a:t>
            </a:r>
            <a:endParaRPr sz="1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T Sans Narrow"/>
              <a:buChar char="●"/>
            </a:pPr>
            <a:r>
              <a:rPr lang="en" sz="1400">
                <a:latin typeface="PT Sans Narrow"/>
                <a:ea typeface="PT Sans Narrow"/>
                <a:cs typeface="PT Sans Narrow"/>
                <a:sym typeface="PT Sans Narrow"/>
              </a:rPr>
              <a:t>Use the ground truth of movements observed in our Solar System to reach further conclusions.</a:t>
            </a:r>
            <a:endParaRPr sz="14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4037" y="2571750"/>
            <a:ext cx="2995926" cy="19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T Sans Narrow"/>
              <a:buAutoNum type="arabicPeriod"/>
            </a:pP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Batygin, Konstantin, and Michael E. Brown. “EVIDENCE for a DISTANT GIANT PLANET in the SOLAR SYSTEM.” The Astronomical Journal, vol. 151, no. 2, 20 Jan. 2016, p. 22, arxiv.org/pdf/1601.05438.pdf, </a:t>
            </a:r>
            <a:r>
              <a:rPr lang="en" sz="1400" u="sng">
                <a:solidFill>
                  <a:srgbClr val="1155CC"/>
                </a:solidFill>
                <a:latin typeface="PT Sans Narrow"/>
                <a:ea typeface="PT Sans Narrow"/>
                <a:cs typeface="PT Sans Narrow"/>
                <a:sym typeface="PT Sans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https://doi.org/10.3847/0004-6256/151/2/22</a:t>
            </a: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</a:t>
            </a:r>
            <a:endParaRPr sz="14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T Sans Narrow"/>
              <a:buAutoNum type="arabicPeriod"/>
            </a:pP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Brown, Michael E, et al. “A Pan-STARRS1 Search for Planet Nine.” ArXiv (Cornell University), 31 Jan. 2024, </a:t>
            </a:r>
            <a:r>
              <a:rPr lang="en" sz="1400" u="sng">
                <a:solidFill>
                  <a:srgbClr val="1155CC"/>
                </a:solidFill>
                <a:latin typeface="PT Sans Narrow"/>
                <a:ea typeface="PT Sans Narrow"/>
                <a:cs typeface="PT Sans Narrow"/>
                <a:sym typeface="PT Sans Narr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https://doi.org/10.48550/arxiv.2401.17977</a:t>
            </a: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Accessed 30 Dec. 2024.</a:t>
            </a:r>
            <a:endParaRPr sz="14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T Sans Narrow"/>
              <a:buAutoNum type="arabicPeriod"/>
            </a:pP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Naess, Sigurd, et al. “The Atacama Cosmology Telescope: A Search for Planet 9.” The Astrophysical Journal, vol. 923, no. 2, 1 Dec. 2021, p. 224, </a:t>
            </a:r>
            <a:r>
              <a:rPr lang="en" sz="1400" u="sng">
                <a:solidFill>
                  <a:srgbClr val="1155CC"/>
                </a:solidFill>
                <a:latin typeface="PT Sans Narrow"/>
                <a:ea typeface="PT Sans Narrow"/>
                <a:cs typeface="PT Sans Narrow"/>
                <a:sym typeface="PT Sans Narr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https://doi.org/10.3847/1538-4357/ac2307</a:t>
            </a: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Accessed 25 May 2022. </a:t>
            </a:r>
            <a:endParaRPr sz="14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T Sans Narrow"/>
              <a:buAutoNum type="arabicPeriod"/>
            </a:pP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aromanro. “SolarSystem/README.md at Master · Aromanro/SolarSystem.” GitHub, 2016, </a:t>
            </a:r>
            <a:r>
              <a:rPr lang="en" sz="1400" u="sng">
                <a:solidFill>
                  <a:srgbClr val="1155CC"/>
                </a:solidFill>
                <a:latin typeface="PT Sans Narrow"/>
                <a:ea typeface="PT Sans Narrow"/>
                <a:cs typeface="PT Sans Narrow"/>
                <a:sym typeface="PT Sans Narro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github.com/aromanro/SolarSystem/blob/master/README.md</a:t>
            </a: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</a:t>
            </a:r>
            <a:endParaRPr sz="14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T Sans Narrow"/>
              <a:buAutoNum type="arabicPeriod"/>
            </a:pP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Verlet, Loup. “Computer “Experiments” on Classical Fluids. I. Thermodynamical Properties of Lennard-Jones Molecules.” Physical Review, vol. 159, no. 1, 5 July 1967, pp. 98–103, </a:t>
            </a:r>
            <a:r>
              <a:rPr lang="en" sz="1400" u="sng">
                <a:solidFill>
                  <a:srgbClr val="1155CC"/>
                </a:solidFill>
                <a:latin typeface="PT Sans Narrow"/>
                <a:ea typeface="PT Sans Narrow"/>
                <a:cs typeface="PT Sans Narrow"/>
                <a:sym typeface="PT Sans Narro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https://doi.org/10.1103/physrev.159.98</a:t>
            </a:r>
            <a:r>
              <a:rPr lang="en" sz="1400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</a:t>
            </a:r>
            <a:endParaRPr sz="14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